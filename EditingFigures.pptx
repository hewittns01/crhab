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8C"/>
    <a:srgbClr val="FF8800"/>
    <a:srgbClr val="E09353"/>
    <a:srgbClr val="336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A09A9-35B9-45F9-A5D5-9BF4E3550AE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996E1-AFBB-4CB5-9647-0B5DFCAA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6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996E1-AFBB-4CB5-9647-0B5DFCAA7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996E1-AFBB-4CB5-9647-0B5DFCAA7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53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16EE-0A04-410D-0E82-43AAFDBB5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11A78-6FC6-C19F-99D8-261F82E26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4F9B8-A057-EA45-C2BE-F9C6366E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75AA7-FE69-6549-F407-F45E56B3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E1B0F-E2C3-8ECE-703A-E2EBAEDA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3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BA9C-2731-ADA8-83D8-BA87B8A4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2B2D-DF6F-A950-AAA4-1B105E671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D20A-F166-CE29-032C-25E3AC91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012A-4075-4285-A3B4-AADE91A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0835-6552-1E2F-66F2-F9A9E785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4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6729-9E37-E48F-B231-99951739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C46D1-587B-7E32-D37A-A3E00703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C867-DEE4-3AC7-6D4B-3C20497E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0B964-DAEC-876A-C46A-274C728C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CC4B-2C81-A576-10C1-C72E18F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1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1A4C-1B3A-5E7F-03EC-6BD210F1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0A270-936B-D2CF-CC30-B19EF649A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81F86-6D15-FEC8-8BAF-09AE496D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4A955-09BE-4452-EF4A-5C149418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8B8DA-D71E-1E95-9C4A-B710CD0A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1404E-463D-E567-9EDC-A0EB23F6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5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B948-B4E5-D7FF-D0D1-A9C5B9A7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10CCF-2391-D715-45B0-DA7786693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A7CD9-90B5-C96F-59B7-30C68727A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D5FCC-8928-6FAC-6638-8A572586F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66ACA-F2F6-048B-EF1B-12ADA23D3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9518B-28C1-C987-02A8-19EDD2FF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574A4-392C-3FE1-B3A9-3710C167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9A9EF7-E549-F2D8-73CA-7A6BC169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7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9577-E68E-36D1-8FBA-C7EE0E51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A54C8-815A-B9F6-4C14-E2771CEC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97171-3D46-171B-C59D-70F26C22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E353B-C1F0-3B51-2075-2EF62810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5549A-31B3-5FC3-6E8C-7EBC45DE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8CD31-64E8-63FE-98ED-0C6288BD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A1F6-5EE8-55DF-D513-3DCD3CC7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9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24E8-D9CB-AC92-AAFF-AE945503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1E67E-F353-F794-9246-CFFFC250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54E1A-F292-E306-8B6D-683D939C4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3D310-3723-7C75-B0A8-6A222C38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27A3D-E543-B4B1-E009-0C712A92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8F02-8EFA-495E-8EBA-75D6DAD9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7797-CBC6-CF78-3A8B-BFC9DFBC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5E397-F5A7-03EE-1B78-2583CBD9C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6585B-C1A3-E312-84D6-C5C9F8113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968F0-C05A-20CF-6AF8-48332604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1C922-1AAC-817D-C9F9-C3A3F101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EEF2C-7E82-01F2-38BD-5AB04C2B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3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804A-244D-B30D-D641-CD6FDC48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6B07A-38AF-A7A8-A946-126FD2662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B583-4B2B-A666-BA61-D0F13B85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D384-D1CE-8FC4-D377-24327DA0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0869E-5FE2-E32D-CC27-F05DB6EA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9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F2751-46F8-4AE6-8B12-CF34D1F53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01C54-AD36-9251-D5AB-F48C5A6FD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7B61-90FF-C468-9875-3F9BE79B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1D71C-6D81-7030-2445-BFFF87C2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5CE0-569B-3149-46E2-BC633F88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5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CB572-ABD7-E6E0-BC87-AD6E720B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2D998-CA4C-03AE-C5EC-FDA3E2314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84824-3796-E049-3154-FCABA6DBD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6310F-BC29-432B-9001-4CA7A17FAF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EEE1F-22B4-A3FC-7CAD-EBE243865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5F9FD-F78F-C564-FDFB-8DCC6A9C8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BBBB3-79BA-4E10-B7B7-259EA2B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creen with white and yellow lines&#10;&#10;AI-generated content may be incorrect.">
            <a:extLst>
              <a:ext uri="{FF2B5EF4-FFF2-40B4-BE49-F238E27FC236}">
                <a16:creationId xmlns:a16="http://schemas.microsoft.com/office/drawing/2014/main" id="{C98425E8-3C79-C8CF-6A1D-514B1872D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8572498" cy="3428999"/>
          </a:xfrm>
          <a:prstGeom prst="rect">
            <a:avLst/>
          </a:prstGeom>
        </p:spPr>
      </p:pic>
      <p:pic>
        <p:nvPicPr>
          <p:cNvPr id="7" name="Picture 6" descr="A blue and yellow background&#10;&#10;AI-generated content may be incorrect.">
            <a:extLst>
              <a:ext uri="{FF2B5EF4-FFF2-40B4-BE49-F238E27FC236}">
                <a16:creationId xmlns:a16="http://schemas.microsoft.com/office/drawing/2014/main" id="{4642CB4C-EBAC-1EB8-0DC3-90F82EA50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57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9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2E9F4B2-4A0A-B46F-F19C-05CADF78726E}"/>
              </a:ext>
            </a:extLst>
          </p:cNvPr>
          <p:cNvGrpSpPr/>
          <p:nvPr/>
        </p:nvGrpSpPr>
        <p:grpSpPr>
          <a:xfrm>
            <a:off x="0" y="0"/>
            <a:ext cx="10287000" cy="6858000"/>
            <a:chOff x="0" y="0"/>
            <a:chExt cx="10287000" cy="6858000"/>
          </a:xfrm>
        </p:grpSpPr>
        <p:pic>
          <p:nvPicPr>
            <p:cNvPr id="5" name="Picture 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1BF692D7-5DD6-2950-F859-B2FA57C31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0287000" cy="6858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25CD74-9D3A-3E3D-2D99-A52F2AF1287B}"/>
                </a:ext>
              </a:extLst>
            </p:cNvPr>
            <p:cNvSpPr/>
            <p:nvPr/>
          </p:nvSpPr>
          <p:spPr>
            <a:xfrm>
              <a:off x="4274024" y="3143155"/>
              <a:ext cx="698026" cy="2350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FCA3EC-9BD7-7B68-1510-90C9DFD9016B}"/>
                </a:ext>
              </a:extLst>
            </p:cNvPr>
            <p:cNvSpPr/>
            <p:nvPr/>
          </p:nvSpPr>
          <p:spPr>
            <a:xfrm>
              <a:off x="4274024" y="6521355"/>
              <a:ext cx="698026" cy="2350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7E1A7F-30AD-2A76-5FC3-F93764A9C90F}"/>
                </a:ext>
              </a:extLst>
            </p:cNvPr>
            <p:cNvSpPr txBox="1"/>
            <p:nvPr/>
          </p:nvSpPr>
          <p:spPr>
            <a:xfrm>
              <a:off x="3873737" y="3028890"/>
              <a:ext cx="149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D5F678-F274-AE17-AB79-4A45DF1C9A82}"/>
                </a:ext>
              </a:extLst>
            </p:cNvPr>
            <p:cNvSpPr txBox="1"/>
            <p:nvPr/>
          </p:nvSpPr>
          <p:spPr>
            <a:xfrm>
              <a:off x="3873737" y="6392009"/>
              <a:ext cx="149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232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DD6F-BE14-CE0E-5450-73EF60F0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DF145D0-30CB-88B4-476B-5BB484110F0D}"/>
              </a:ext>
            </a:extLst>
          </p:cNvPr>
          <p:cNvGrpSpPr/>
          <p:nvPr/>
        </p:nvGrpSpPr>
        <p:grpSpPr>
          <a:xfrm>
            <a:off x="0" y="0"/>
            <a:ext cx="10287000" cy="6858000"/>
            <a:chOff x="0" y="0"/>
            <a:chExt cx="10287000" cy="6858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B36F86-E711-9AB5-F4C8-D410FC340B74}"/>
                </a:ext>
              </a:extLst>
            </p:cNvPr>
            <p:cNvGrpSpPr/>
            <p:nvPr/>
          </p:nvGrpSpPr>
          <p:grpSpPr>
            <a:xfrm>
              <a:off x="0" y="0"/>
              <a:ext cx="10287000" cy="6858000"/>
              <a:chOff x="0" y="0"/>
              <a:chExt cx="10287000" cy="6858000"/>
            </a:xfrm>
          </p:grpSpPr>
          <p:pic>
            <p:nvPicPr>
              <p:cNvPr id="5" name="Picture 4" descr="A screenshot of a graph&#10;&#10;AI-generated content may be incorrect.">
                <a:extLst>
                  <a:ext uri="{FF2B5EF4-FFF2-40B4-BE49-F238E27FC236}">
                    <a16:creationId xmlns:a16="http://schemas.microsoft.com/office/drawing/2014/main" id="{E8EA341B-C0C9-B13A-8F2E-FF9F6031A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0287000" cy="6858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B43ADF-A3C4-0485-F8EF-0C5EF4894FF8}"/>
                  </a:ext>
                </a:extLst>
              </p:cNvPr>
              <p:cNvSpPr/>
              <p:nvPr/>
            </p:nvSpPr>
            <p:spPr>
              <a:xfrm>
                <a:off x="4274024" y="3143155"/>
                <a:ext cx="698026" cy="2350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669126-A6B1-D17B-3DC3-1A908A31BDD6}"/>
                  </a:ext>
                </a:extLst>
              </p:cNvPr>
              <p:cNvSpPr/>
              <p:nvPr/>
            </p:nvSpPr>
            <p:spPr>
              <a:xfrm>
                <a:off x="4274024" y="6521355"/>
                <a:ext cx="698026" cy="2350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126AA47-0A50-F9D6-41A9-C5F1E2A67D8F}"/>
                  </a:ext>
                </a:extLst>
              </p:cNvPr>
              <p:cNvSpPr/>
              <p:nvPr/>
            </p:nvSpPr>
            <p:spPr>
              <a:xfrm>
                <a:off x="0" y="2908110"/>
                <a:ext cx="8885948" cy="520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6FBF451-251A-51E7-88C0-92F3441A8145}"/>
                  </a:ext>
                </a:extLst>
              </p:cNvPr>
              <p:cNvSpPr/>
              <p:nvPr/>
            </p:nvSpPr>
            <p:spPr>
              <a:xfrm>
                <a:off x="62643" y="6260910"/>
                <a:ext cx="8885948" cy="520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EC1C99-25EF-9381-E012-7D4BE11831AC}"/>
                  </a:ext>
                </a:extLst>
              </p:cNvPr>
              <p:cNvSpPr txBox="1"/>
              <p:nvPr/>
            </p:nvSpPr>
            <p:spPr>
              <a:xfrm>
                <a:off x="477298" y="2822678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2019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10C7D7-83F5-CBD6-19B9-E3FBE80D17A4}"/>
                  </a:ext>
                </a:extLst>
              </p:cNvPr>
              <p:cNvSpPr txBox="1"/>
              <p:nvPr/>
            </p:nvSpPr>
            <p:spPr>
              <a:xfrm>
                <a:off x="1734376" y="2822579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C807D5-0606-3843-10E4-1AD95B0F1A75}"/>
                  </a:ext>
                </a:extLst>
              </p:cNvPr>
              <p:cNvSpPr txBox="1"/>
              <p:nvPr/>
            </p:nvSpPr>
            <p:spPr>
              <a:xfrm>
                <a:off x="2991454" y="2828541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2021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BDC7DD-8169-05AF-6B74-13159282C740}"/>
                  </a:ext>
                </a:extLst>
              </p:cNvPr>
              <p:cNvSpPr txBox="1"/>
              <p:nvPr/>
            </p:nvSpPr>
            <p:spPr>
              <a:xfrm>
                <a:off x="4248532" y="2822579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2022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0DC00C-4E74-2CF4-520D-EDAEC211ED2F}"/>
                  </a:ext>
                </a:extLst>
              </p:cNvPr>
              <p:cNvSpPr txBox="1"/>
              <p:nvPr/>
            </p:nvSpPr>
            <p:spPr>
              <a:xfrm>
                <a:off x="5505610" y="2828640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CFE3C1-498C-344A-FAD5-37EE7FB244DB}"/>
                  </a:ext>
                </a:extLst>
              </p:cNvPr>
              <p:cNvSpPr txBox="1"/>
              <p:nvPr/>
            </p:nvSpPr>
            <p:spPr>
              <a:xfrm>
                <a:off x="6762688" y="2822578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DD3133-C4C1-295B-8A40-ABCC431A5197}"/>
                  </a:ext>
                </a:extLst>
              </p:cNvPr>
              <p:cNvSpPr txBox="1"/>
              <p:nvPr/>
            </p:nvSpPr>
            <p:spPr>
              <a:xfrm>
                <a:off x="477298" y="6182216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2019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6568D5-CF3E-3BCF-20B7-C48D2F61F456}"/>
                  </a:ext>
                </a:extLst>
              </p:cNvPr>
              <p:cNvSpPr txBox="1"/>
              <p:nvPr/>
            </p:nvSpPr>
            <p:spPr>
              <a:xfrm>
                <a:off x="1734376" y="6182117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DEAE17-3244-AAD0-2408-B7DC47AE4C11}"/>
                  </a:ext>
                </a:extLst>
              </p:cNvPr>
              <p:cNvSpPr txBox="1"/>
              <p:nvPr/>
            </p:nvSpPr>
            <p:spPr>
              <a:xfrm>
                <a:off x="2991454" y="6188079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30F302-12AF-874A-F47A-6062BBF57026}"/>
                  </a:ext>
                </a:extLst>
              </p:cNvPr>
              <p:cNvSpPr txBox="1"/>
              <p:nvPr/>
            </p:nvSpPr>
            <p:spPr>
              <a:xfrm>
                <a:off x="4248532" y="6182117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2022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4D15A8-D0AE-810E-D942-3EE7D0173DDD}"/>
                  </a:ext>
                </a:extLst>
              </p:cNvPr>
              <p:cNvSpPr txBox="1"/>
              <p:nvPr/>
            </p:nvSpPr>
            <p:spPr>
              <a:xfrm>
                <a:off x="5505610" y="6188178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70A01A-2993-D05E-AC31-8C201A281465}"/>
                  </a:ext>
                </a:extLst>
              </p:cNvPr>
              <p:cNvSpPr txBox="1"/>
              <p:nvPr/>
            </p:nvSpPr>
            <p:spPr>
              <a:xfrm>
                <a:off x="6762688" y="6182116"/>
                <a:ext cx="6383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2024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FC7226-201F-97AD-028D-D12E738C23E1}"/>
                </a:ext>
              </a:extLst>
            </p:cNvPr>
            <p:cNvSpPr txBox="1"/>
            <p:nvPr/>
          </p:nvSpPr>
          <p:spPr>
            <a:xfrm>
              <a:off x="3797364" y="2999278"/>
              <a:ext cx="9023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Year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6B72AD-871C-E273-0B1D-B42C233C4C1C}"/>
                </a:ext>
              </a:extLst>
            </p:cNvPr>
            <p:cNvSpPr txBox="1"/>
            <p:nvPr/>
          </p:nvSpPr>
          <p:spPr>
            <a:xfrm>
              <a:off x="3797364" y="6365900"/>
              <a:ext cx="9023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695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A8331ADF-167D-DD35-8D55-7166E871509A}"/>
              </a:ext>
            </a:extLst>
          </p:cNvPr>
          <p:cNvGrpSpPr/>
          <p:nvPr/>
        </p:nvGrpSpPr>
        <p:grpSpPr>
          <a:xfrm>
            <a:off x="0" y="323850"/>
            <a:ext cx="12192000" cy="6095999"/>
            <a:chOff x="-9052" y="0"/>
            <a:chExt cx="12192000" cy="6095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5C74AB-60BC-E934-CFC8-E6EF2501C401}"/>
                </a:ext>
              </a:extLst>
            </p:cNvPr>
            <p:cNvGrpSpPr/>
            <p:nvPr/>
          </p:nvGrpSpPr>
          <p:grpSpPr>
            <a:xfrm>
              <a:off x="-9052" y="0"/>
              <a:ext cx="12192000" cy="6095999"/>
              <a:chOff x="0" y="-1"/>
              <a:chExt cx="12192000" cy="6095999"/>
            </a:xfrm>
          </p:grpSpPr>
          <p:pic>
            <p:nvPicPr>
              <p:cNvPr id="5" name="Picture 4" descr="A graph with numbers and lines&#10;&#10;AI-generated content may be incorrect.">
                <a:extLst>
                  <a:ext uri="{FF2B5EF4-FFF2-40B4-BE49-F238E27FC236}">
                    <a16:creationId xmlns:a16="http://schemas.microsoft.com/office/drawing/2014/main" id="{D253B18B-2133-383D-F37F-CC2979D47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1"/>
                <a:ext cx="12192000" cy="6095999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AAD34A8-36F4-2BFA-B3AF-B95AFB9C097B}"/>
                  </a:ext>
                </a:extLst>
              </p:cNvPr>
              <p:cNvSpPr/>
              <p:nvPr/>
            </p:nvSpPr>
            <p:spPr>
              <a:xfrm rot="16200000">
                <a:off x="6107674" y="1188476"/>
                <a:ext cx="548157" cy="92430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07266B-6298-EB87-7F85-0A22E856139F}"/>
                  </a:ext>
                </a:extLst>
              </p:cNvPr>
              <p:cNvSpPr/>
              <p:nvPr/>
            </p:nvSpPr>
            <p:spPr>
              <a:xfrm>
                <a:off x="320040" y="1476349"/>
                <a:ext cx="1120140" cy="39795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3C7B02-6973-2F5C-3214-F112FAF5D156}"/>
                  </a:ext>
                </a:extLst>
              </p:cNvPr>
              <p:cNvSpPr txBox="1"/>
              <p:nvPr/>
            </p:nvSpPr>
            <p:spPr>
              <a:xfrm>
                <a:off x="354330" y="1352485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0.0024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BE177F-0720-F9C9-0A12-EC05B1E026D6}"/>
                  </a:ext>
                </a:extLst>
              </p:cNvPr>
              <p:cNvSpPr txBox="1"/>
              <p:nvPr/>
            </p:nvSpPr>
            <p:spPr>
              <a:xfrm>
                <a:off x="342900" y="2290715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0.0022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DDEB61-4C9F-59E4-F26E-667D4C1F6043}"/>
                  </a:ext>
                </a:extLst>
              </p:cNvPr>
              <p:cNvSpPr txBox="1"/>
              <p:nvPr/>
            </p:nvSpPr>
            <p:spPr>
              <a:xfrm>
                <a:off x="342900" y="3228945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0.0020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1C6307-F39B-BF1A-D440-8D68CAEBF9B3}"/>
                  </a:ext>
                </a:extLst>
              </p:cNvPr>
              <p:cNvSpPr txBox="1"/>
              <p:nvPr/>
            </p:nvSpPr>
            <p:spPr>
              <a:xfrm>
                <a:off x="342900" y="4167175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0.0018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DF2AD8-D32B-6AAA-749E-53C23082AC57}"/>
                  </a:ext>
                </a:extLst>
              </p:cNvPr>
              <p:cNvSpPr txBox="1"/>
              <p:nvPr/>
            </p:nvSpPr>
            <p:spPr>
              <a:xfrm>
                <a:off x="354330" y="5105405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0.0016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C78329-66B1-9520-C795-085E9980AF7C}"/>
                  </a:ext>
                </a:extLst>
              </p:cNvPr>
              <p:cNvSpPr txBox="1"/>
              <p:nvPr/>
            </p:nvSpPr>
            <p:spPr>
              <a:xfrm rot="16200000">
                <a:off x="-272385" y="2847943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Loss (MSE)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5C6B23-EA0B-E3CA-85B1-6DF80D702038}"/>
                  </a:ext>
                </a:extLst>
              </p:cNvPr>
              <p:cNvSpPr txBox="1"/>
              <p:nvPr/>
            </p:nvSpPr>
            <p:spPr>
              <a:xfrm>
                <a:off x="5387340" y="5684371"/>
                <a:ext cx="1417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Epoch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E25836-0DB5-67B5-4ED8-00F588F5FF29}"/>
                  </a:ext>
                </a:extLst>
              </p:cNvPr>
              <p:cNvSpPr txBox="1"/>
              <p:nvPr/>
            </p:nvSpPr>
            <p:spPr>
              <a:xfrm>
                <a:off x="1571084" y="541842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1A8D1B-FFAA-F4C6-FF72-D376F1BC84D4}"/>
                  </a:ext>
                </a:extLst>
              </p:cNvPr>
              <p:cNvSpPr txBox="1"/>
              <p:nvPr/>
            </p:nvSpPr>
            <p:spPr>
              <a:xfrm>
                <a:off x="2697416" y="542131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C3DD57-4CAE-454C-9589-998D66466445}"/>
                  </a:ext>
                </a:extLst>
              </p:cNvPr>
              <p:cNvSpPr txBox="1"/>
              <p:nvPr/>
            </p:nvSpPr>
            <p:spPr>
              <a:xfrm>
                <a:off x="3833272" y="542131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5.0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8D7041-E54E-6CE8-1767-560C4D9F2E6A}"/>
                  </a:ext>
                </a:extLst>
              </p:cNvPr>
              <p:cNvSpPr txBox="1"/>
              <p:nvPr/>
            </p:nvSpPr>
            <p:spPr>
              <a:xfrm>
                <a:off x="4953480" y="5407271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7.5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7AF04E-3799-5A29-007B-A8A9B4397C08}"/>
                  </a:ext>
                </a:extLst>
              </p:cNvPr>
              <p:cNvSpPr txBox="1"/>
              <p:nvPr/>
            </p:nvSpPr>
            <p:spPr>
              <a:xfrm>
                <a:off x="6085533" y="542131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10.0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EEF279-5F21-923C-5D98-49AA775E7217}"/>
                  </a:ext>
                </a:extLst>
              </p:cNvPr>
              <p:cNvSpPr txBox="1"/>
              <p:nvPr/>
            </p:nvSpPr>
            <p:spPr>
              <a:xfrm>
                <a:off x="7214725" y="5422963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12.5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5CF766-252E-02C6-0D3C-32BBDBD24710}"/>
                  </a:ext>
                </a:extLst>
              </p:cNvPr>
              <p:cNvSpPr txBox="1"/>
              <p:nvPr/>
            </p:nvSpPr>
            <p:spPr>
              <a:xfrm>
                <a:off x="8345741" y="542131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15.0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FCE3B4F-A3EF-B40F-9DE4-9593F7E5AEE3}"/>
                  </a:ext>
                </a:extLst>
              </p:cNvPr>
              <p:cNvSpPr txBox="1"/>
              <p:nvPr/>
            </p:nvSpPr>
            <p:spPr>
              <a:xfrm>
                <a:off x="9472072" y="5421314"/>
                <a:ext cx="773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17.5</a:t>
                </a: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FBCBE16-6BF9-16E3-6F2D-3750BF672257}"/>
                </a:ext>
              </a:extLst>
            </p:cNvPr>
            <p:cNvSpPr/>
            <p:nvPr/>
          </p:nvSpPr>
          <p:spPr>
            <a:xfrm>
              <a:off x="1523999" y="728663"/>
              <a:ext cx="9444039" cy="468123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65685CE-5177-6CB2-0D1B-07143A507636}"/>
                </a:ext>
              </a:extLst>
            </p:cNvPr>
            <p:cNvSpPr/>
            <p:nvPr/>
          </p:nvSpPr>
          <p:spPr>
            <a:xfrm>
              <a:off x="8689179" y="773915"/>
              <a:ext cx="2193128" cy="7100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2E770C-6D42-FCF6-673F-3766431FB7E1}"/>
                </a:ext>
              </a:extLst>
            </p:cNvPr>
            <p:cNvSpPr txBox="1"/>
            <p:nvPr/>
          </p:nvSpPr>
          <p:spPr>
            <a:xfrm>
              <a:off x="9308882" y="788250"/>
              <a:ext cx="146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Training Loss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62BF39-71BB-38A2-1C74-2D2F88DA6B29}"/>
                </a:ext>
              </a:extLst>
            </p:cNvPr>
            <p:cNvSpPr txBox="1"/>
            <p:nvPr/>
          </p:nvSpPr>
          <p:spPr>
            <a:xfrm>
              <a:off x="9308882" y="1128940"/>
              <a:ext cx="1545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Validation Loss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6D99B87-9372-763A-285C-0081C284A772}"/>
                </a:ext>
              </a:extLst>
            </p:cNvPr>
            <p:cNvCxnSpPr>
              <a:cxnSpLocks/>
            </p:cNvCxnSpPr>
            <p:nvPr/>
          </p:nvCxnSpPr>
          <p:spPr>
            <a:xfrm>
              <a:off x="8846000" y="1298217"/>
              <a:ext cx="462882" cy="0"/>
            </a:xfrm>
            <a:prstGeom prst="line">
              <a:avLst/>
            </a:prstGeom>
            <a:ln w="38100">
              <a:solidFill>
                <a:srgbClr val="E0935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1DF353C-A108-28DA-948C-A58FAB3B71DA}"/>
                </a:ext>
              </a:extLst>
            </p:cNvPr>
            <p:cNvCxnSpPr>
              <a:cxnSpLocks/>
            </p:cNvCxnSpPr>
            <p:nvPr/>
          </p:nvCxnSpPr>
          <p:spPr>
            <a:xfrm>
              <a:off x="8846000" y="957527"/>
              <a:ext cx="462882" cy="0"/>
            </a:xfrm>
            <a:prstGeom prst="line">
              <a:avLst/>
            </a:prstGeom>
            <a:ln w="38100">
              <a:solidFill>
                <a:srgbClr val="336B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E9CB22-99A2-5115-D277-A3BEF01618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936" y="1566419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C2ADC22-ABDE-7992-4548-3198AE9C56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936" y="2499869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2048D3-B172-B0C2-C677-DF14B87620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936" y="3429000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02085A7-86A3-90C5-915E-76F9BE4D1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936" y="4366769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78650A-5F60-A5C5-2746-D87BFEA91E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936" y="5300219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70CBC5-74FF-F6B6-4F8D-3B2B98E2E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7799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5719511-E0AB-E8C4-FD36-B83B115301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8893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ED602B4-33FF-4170-0D85-11DC5250C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7605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161A19-CB15-FC11-9E3F-F942B1F5F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936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679DD7C-59D4-D63B-7600-61C97BFB7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9792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B55E8A2-0CF9-376A-4565-D81DF9217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6124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3B8A8E3-F363-3F1F-A666-A115EF3D34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7218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F485986-FE95-7108-03EE-589A0E51B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8312" y="5406471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DAA207-BEED-DD81-CB14-07B2AE33519C}"/>
                </a:ext>
              </a:extLst>
            </p:cNvPr>
            <p:cNvSpPr/>
            <p:nvPr/>
          </p:nvSpPr>
          <p:spPr>
            <a:xfrm>
              <a:off x="3754877" y="395590"/>
              <a:ext cx="4824919" cy="29735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FABF9F4-CB5C-9CA9-C529-3F415D51CE2B}"/>
                </a:ext>
              </a:extLst>
            </p:cNvPr>
            <p:cNvSpPr/>
            <p:nvPr/>
          </p:nvSpPr>
          <p:spPr>
            <a:xfrm>
              <a:off x="3594100" y="395590"/>
              <a:ext cx="4985696" cy="2973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FFFCF6-849F-DFEC-F3BD-0E5C6B80CD4A}"/>
                </a:ext>
              </a:extLst>
            </p:cNvPr>
            <p:cNvSpPr txBox="1"/>
            <p:nvPr/>
          </p:nvSpPr>
          <p:spPr>
            <a:xfrm>
              <a:off x="2097784" y="295778"/>
              <a:ext cx="7996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LSTM Model Training &amp; Validation Loss (20 Epochs)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62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40A3A-8897-4A99-E379-4909704F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3C099FBB-6E2B-E457-F675-5E9699F34714}"/>
              </a:ext>
            </a:extLst>
          </p:cNvPr>
          <p:cNvGrpSpPr/>
          <p:nvPr/>
        </p:nvGrpSpPr>
        <p:grpSpPr>
          <a:xfrm>
            <a:off x="0" y="0"/>
            <a:ext cx="12192000" cy="5430319"/>
            <a:chOff x="0" y="0"/>
            <a:chExt cx="12192000" cy="5430319"/>
          </a:xfrm>
        </p:grpSpPr>
        <p:pic>
          <p:nvPicPr>
            <p:cNvPr id="13" name="Picture 12" descr="A graph with blue and orange lines&#10;&#10;AI-generated content may be incorrect.">
              <a:extLst>
                <a:ext uri="{FF2B5EF4-FFF2-40B4-BE49-F238E27FC236}">
                  <a16:creationId xmlns:a16="http://schemas.microsoft.com/office/drawing/2014/main" id="{53AB6232-A4B9-D79B-2360-8B5816A7E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3" r="4999"/>
            <a:stretch>
              <a:fillRect/>
            </a:stretch>
          </p:blipFill>
          <p:spPr>
            <a:xfrm>
              <a:off x="0" y="0"/>
              <a:ext cx="12192000" cy="542243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941767-1564-B94B-61D5-DBDB440B8455}"/>
                </a:ext>
              </a:extLst>
            </p:cNvPr>
            <p:cNvSpPr/>
            <p:nvPr/>
          </p:nvSpPr>
          <p:spPr>
            <a:xfrm>
              <a:off x="78920" y="647699"/>
              <a:ext cx="876300" cy="408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856F1FC-7C0D-9CAA-5344-328368D6135B}"/>
                </a:ext>
              </a:extLst>
            </p:cNvPr>
            <p:cNvSpPr/>
            <p:nvPr/>
          </p:nvSpPr>
          <p:spPr>
            <a:xfrm rot="16200000">
              <a:off x="6073503" y="-447989"/>
              <a:ext cx="381702" cy="11050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ADDECE-528C-FEF5-CBA6-EF23CE0A06B8}"/>
                </a:ext>
              </a:extLst>
            </p:cNvPr>
            <p:cNvSpPr txBox="1"/>
            <p:nvPr/>
          </p:nvSpPr>
          <p:spPr>
            <a:xfrm>
              <a:off x="752746" y="4801310"/>
              <a:ext cx="9601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8FFFF9-AA3C-F3AF-A896-AAB72FDFA92F}"/>
                </a:ext>
              </a:extLst>
            </p:cNvPr>
            <p:cNvSpPr txBox="1"/>
            <p:nvPr/>
          </p:nvSpPr>
          <p:spPr>
            <a:xfrm>
              <a:off x="1602375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AAC40E-3364-4540-63F0-14B97E33A512}"/>
                </a:ext>
              </a:extLst>
            </p:cNvPr>
            <p:cNvSpPr txBox="1"/>
            <p:nvPr/>
          </p:nvSpPr>
          <p:spPr>
            <a:xfrm>
              <a:off x="2539634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E361815-55B9-479A-E1B8-E489186EA6EB}"/>
                </a:ext>
              </a:extLst>
            </p:cNvPr>
            <p:cNvSpPr txBox="1"/>
            <p:nvPr/>
          </p:nvSpPr>
          <p:spPr>
            <a:xfrm>
              <a:off x="3446415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33A5907-E597-B458-5878-BCEB783A4747}"/>
                </a:ext>
              </a:extLst>
            </p:cNvPr>
            <p:cNvSpPr txBox="1"/>
            <p:nvPr/>
          </p:nvSpPr>
          <p:spPr>
            <a:xfrm>
              <a:off x="4400820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B3EF8E2-BEEF-CF82-D5AC-5ED5665EE496}"/>
                </a:ext>
              </a:extLst>
            </p:cNvPr>
            <p:cNvSpPr txBox="1"/>
            <p:nvPr/>
          </p:nvSpPr>
          <p:spPr>
            <a:xfrm>
              <a:off x="5307601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BC5A0-8B80-73F3-FC22-EDDB8EF575CF}"/>
                </a:ext>
              </a:extLst>
            </p:cNvPr>
            <p:cNvSpPr txBox="1"/>
            <p:nvPr/>
          </p:nvSpPr>
          <p:spPr>
            <a:xfrm>
              <a:off x="6262006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2023-08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018128-A94B-A52D-677E-FCC717C82241}"/>
                </a:ext>
              </a:extLst>
            </p:cNvPr>
            <p:cNvSpPr txBox="1"/>
            <p:nvPr/>
          </p:nvSpPr>
          <p:spPr>
            <a:xfrm>
              <a:off x="7199265" y="4790339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2023-09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3479AF0-F983-8262-F826-E41574A9B8A8}"/>
                </a:ext>
              </a:extLst>
            </p:cNvPr>
            <p:cNvSpPr txBox="1"/>
            <p:nvPr/>
          </p:nvSpPr>
          <p:spPr>
            <a:xfrm>
              <a:off x="8123192" y="479086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A953D4-9F7A-8B08-7D43-891A6C239A11}"/>
                </a:ext>
              </a:extLst>
            </p:cNvPr>
            <p:cNvSpPr txBox="1"/>
            <p:nvPr/>
          </p:nvSpPr>
          <p:spPr>
            <a:xfrm>
              <a:off x="9060451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5F502E7-BBDF-C21F-B04F-DB45DEAB2FE4}"/>
                </a:ext>
              </a:extLst>
            </p:cNvPr>
            <p:cNvSpPr txBox="1"/>
            <p:nvPr/>
          </p:nvSpPr>
          <p:spPr>
            <a:xfrm>
              <a:off x="9984378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42E8D6-26EF-E810-A3AE-742F6C0768BD}"/>
                </a:ext>
              </a:extLst>
            </p:cNvPr>
            <p:cNvSpPr txBox="1"/>
            <p:nvPr/>
          </p:nvSpPr>
          <p:spPr>
            <a:xfrm>
              <a:off x="10921637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2024-01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E3854B4-1FB5-1102-2B98-5ED6A9D2A3F5}"/>
                </a:ext>
              </a:extLst>
            </p:cNvPr>
            <p:cNvSpPr txBox="1"/>
            <p:nvPr/>
          </p:nvSpPr>
          <p:spPr>
            <a:xfrm>
              <a:off x="321128" y="1121533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8F50A2A-AADF-4F43-90AF-0210787D34A8}"/>
                </a:ext>
              </a:extLst>
            </p:cNvPr>
            <p:cNvSpPr txBox="1"/>
            <p:nvPr/>
          </p:nvSpPr>
          <p:spPr>
            <a:xfrm>
              <a:off x="321128" y="1783781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A1DAFD6-3415-3E26-EB6B-516B3190DDC1}"/>
                </a:ext>
              </a:extLst>
            </p:cNvPr>
            <p:cNvSpPr txBox="1"/>
            <p:nvPr/>
          </p:nvSpPr>
          <p:spPr>
            <a:xfrm>
              <a:off x="321128" y="2445631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-0.4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A3A7E6-3DD9-0B69-91B2-4536346EAA5B}"/>
                </a:ext>
              </a:extLst>
            </p:cNvPr>
            <p:cNvSpPr txBox="1"/>
            <p:nvPr/>
          </p:nvSpPr>
          <p:spPr>
            <a:xfrm>
              <a:off x="321128" y="3117404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-0.6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313922D-5AA3-7A58-82BB-5EAE897A9539}"/>
                </a:ext>
              </a:extLst>
            </p:cNvPr>
            <p:cNvSpPr txBox="1"/>
            <p:nvPr/>
          </p:nvSpPr>
          <p:spPr>
            <a:xfrm>
              <a:off x="321128" y="3789177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-0.8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4C561F-37AF-D8A8-48B1-36C1B50A610B}"/>
                </a:ext>
              </a:extLst>
            </p:cNvPr>
            <p:cNvSpPr txBox="1"/>
            <p:nvPr/>
          </p:nvSpPr>
          <p:spPr>
            <a:xfrm>
              <a:off x="321128" y="4460950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-1.0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AD014D-EE3C-E9A8-C488-9C8426C0DD26}"/>
                </a:ext>
              </a:extLst>
            </p:cNvPr>
            <p:cNvSpPr txBox="1"/>
            <p:nvPr/>
          </p:nvSpPr>
          <p:spPr>
            <a:xfrm rot="16200000">
              <a:off x="-65264" y="2505193"/>
              <a:ext cx="795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NDCI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444C92-88D6-8340-ABFF-61A5CF7AA654}"/>
                </a:ext>
              </a:extLst>
            </p:cNvPr>
            <p:cNvSpPr txBox="1"/>
            <p:nvPr/>
          </p:nvSpPr>
          <p:spPr>
            <a:xfrm>
              <a:off x="5698331" y="5060987"/>
              <a:ext cx="795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16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A7B6E58F-2761-31F2-020E-98553DD43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4640"/>
            <a:ext cx="12192000" cy="254336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352CE231-2214-9935-9FE7-34491416FE81}"/>
              </a:ext>
            </a:extLst>
          </p:cNvPr>
          <p:cNvGrpSpPr/>
          <p:nvPr/>
        </p:nvGrpSpPr>
        <p:grpSpPr>
          <a:xfrm>
            <a:off x="0" y="0"/>
            <a:ext cx="12192000" cy="4312920"/>
            <a:chOff x="0" y="0"/>
            <a:chExt cx="12192000" cy="5430319"/>
          </a:xfrm>
        </p:grpSpPr>
        <p:pic>
          <p:nvPicPr>
            <p:cNvPr id="33" name="Picture 32" descr="A graph with blue and orange lines&#10;&#10;AI-generated content may be incorrect.">
              <a:extLst>
                <a:ext uri="{FF2B5EF4-FFF2-40B4-BE49-F238E27FC236}">
                  <a16:creationId xmlns:a16="http://schemas.microsoft.com/office/drawing/2014/main" id="{DD6B9215-3923-D5A5-4BA7-6C49EBD0A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3" r="4999"/>
            <a:stretch>
              <a:fillRect/>
            </a:stretch>
          </p:blipFill>
          <p:spPr>
            <a:xfrm>
              <a:off x="0" y="0"/>
              <a:ext cx="12192000" cy="5422432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948BA3-8D2C-9B7F-0A86-78E8889B6662}"/>
                </a:ext>
              </a:extLst>
            </p:cNvPr>
            <p:cNvSpPr/>
            <p:nvPr/>
          </p:nvSpPr>
          <p:spPr>
            <a:xfrm>
              <a:off x="78920" y="647699"/>
              <a:ext cx="876300" cy="408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F753C05-577C-E337-2D87-FEA455FB5EB2}"/>
                </a:ext>
              </a:extLst>
            </p:cNvPr>
            <p:cNvSpPr/>
            <p:nvPr/>
          </p:nvSpPr>
          <p:spPr>
            <a:xfrm rot="16200000">
              <a:off x="6073503" y="-447989"/>
              <a:ext cx="381702" cy="11050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107918-FBC5-2861-F752-5DE4A94A3356}"/>
                </a:ext>
              </a:extLst>
            </p:cNvPr>
            <p:cNvSpPr txBox="1"/>
            <p:nvPr/>
          </p:nvSpPr>
          <p:spPr>
            <a:xfrm>
              <a:off x="752746" y="4801310"/>
              <a:ext cx="9601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FA9111E-CD75-D2D6-2B9C-8CD2585877F6}"/>
                </a:ext>
              </a:extLst>
            </p:cNvPr>
            <p:cNvSpPr txBox="1"/>
            <p:nvPr/>
          </p:nvSpPr>
          <p:spPr>
            <a:xfrm>
              <a:off x="1602375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964E44C-F01A-C892-C8F5-B0E54EB1AF7B}"/>
                </a:ext>
              </a:extLst>
            </p:cNvPr>
            <p:cNvSpPr txBox="1"/>
            <p:nvPr/>
          </p:nvSpPr>
          <p:spPr>
            <a:xfrm>
              <a:off x="2539634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A84D9D-F5AF-3DF0-6D5A-C0E72707CBD1}"/>
                </a:ext>
              </a:extLst>
            </p:cNvPr>
            <p:cNvSpPr txBox="1"/>
            <p:nvPr/>
          </p:nvSpPr>
          <p:spPr>
            <a:xfrm>
              <a:off x="3446415" y="4801310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0E9B567-ABDC-D722-0C15-A377F4A89223}"/>
                </a:ext>
              </a:extLst>
            </p:cNvPr>
            <p:cNvSpPr txBox="1"/>
            <p:nvPr/>
          </p:nvSpPr>
          <p:spPr>
            <a:xfrm>
              <a:off x="4400820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AB0595-DC2E-AB88-27F3-720904EDDDA1}"/>
                </a:ext>
              </a:extLst>
            </p:cNvPr>
            <p:cNvSpPr txBox="1"/>
            <p:nvPr/>
          </p:nvSpPr>
          <p:spPr>
            <a:xfrm>
              <a:off x="5307601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06AAF5C-89AA-F78A-7653-ED765BBD74EB}"/>
                </a:ext>
              </a:extLst>
            </p:cNvPr>
            <p:cNvSpPr txBox="1"/>
            <p:nvPr/>
          </p:nvSpPr>
          <p:spPr>
            <a:xfrm>
              <a:off x="6262006" y="479125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0C61C17-4528-0672-7781-04EB3B6AB006}"/>
                </a:ext>
              </a:extLst>
            </p:cNvPr>
            <p:cNvSpPr txBox="1"/>
            <p:nvPr/>
          </p:nvSpPr>
          <p:spPr>
            <a:xfrm>
              <a:off x="7199265" y="4790339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2023-09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8C280B-2992-0BC4-FD56-A4CC03E46307}"/>
                </a:ext>
              </a:extLst>
            </p:cNvPr>
            <p:cNvSpPr txBox="1"/>
            <p:nvPr/>
          </p:nvSpPr>
          <p:spPr>
            <a:xfrm>
              <a:off x="8123192" y="4790867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3C84481-C548-230C-504A-D941AECC0D2B}"/>
                </a:ext>
              </a:extLst>
            </p:cNvPr>
            <p:cNvSpPr txBox="1"/>
            <p:nvPr/>
          </p:nvSpPr>
          <p:spPr>
            <a:xfrm>
              <a:off x="9060451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372D3C-31A3-CB73-9556-A3F4F6F4DDEE}"/>
                </a:ext>
              </a:extLst>
            </p:cNvPr>
            <p:cNvSpPr txBox="1"/>
            <p:nvPr/>
          </p:nvSpPr>
          <p:spPr>
            <a:xfrm>
              <a:off x="9984378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2023-12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DE8CCDD-76DE-E63F-7326-5ACCFB638C93}"/>
                </a:ext>
              </a:extLst>
            </p:cNvPr>
            <p:cNvSpPr txBox="1"/>
            <p:nvPr/>
          </p:nvSpPr>
          <p:spPr>
            <a:xfrm>
              <a:off x="10921637" y="4789421"/>
              <a:ext cx="974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2024-01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EF37B5-D4F4-3517-C46B-A6797CED2476}"/>
                </a:ext>
              </a:extLst>
            </p:cNvPr>
            <p:cNvSpPr txBox="1"/>
            <p:nvPr/>
          </p:nvSpPr>
          <p:spPr>
            <a:xfrm>
              <a:off x="321128" y="1121533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CF7E573-BED2-7E14-A73F-6549756CAA33}"/>
                </a:ext>
              </a:extLst>
            </p:cNvPr>
            <p:cNvSpPr txBox="1"/>
            <p:nvPr/>
          </p:nvSpPr>
          <p:spPr>
            <a:xfrm>
              <a:off x="321128" y="1783781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E7BE326-BB25-D1C6-248E-E146952E5973}"/>
                </a:ext>
              </a:extLst>
            </p:cNvPr>
            <p:cNvSpPr txBox="1"/>
            <p:nvPr/>
          </p:nvSpPr>
          <p:spPr>
            <a:xfrm>
              <a:off x="321128" y="2445631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37E423C-37D4-A1DF-8974-10F65BCC6952}"/>
                </a:ext>
              </a:extLst>
            </p:cNvPr>
            <p:cNvSpPr txBox="1"/>
            <p:nvPr/>
          </p:nvSpPr>
          <p:spPr>
            <a:xfrm>
              <a:off x="321128" y="3117404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0E1A2A-B86B-55D1-C4F0-1393672BE366}"/>
                </a:ext>
              </a:extLst>
            </p:cNvPr>
            <p:cNvSpPr txBox="1"/>
            <p:nvPr/>
          </p:nvSpPr>
          <p:spPr>
            <a:xfrm>
              <a:off x="321128" y="3789177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-0.8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A0B1265-D7C2-B60C-1A67-60D588E09B5B}"/>
                </a:ext>
              </a:extLst>
            </p:cNvPr>
            <p:cNvSpPr txBox="1"/>
            <p:nvPr/>
          </p:nvSpPr>
          <p:spPr>
            <a:xfrm>
              <a:off x="321128" y="4460950"/>
              <a:ext cx="863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-1.0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C00E13-F55A-512A-C2B0-79FE9373ED95}"/>
                </a:ext>
              </a:extLst>
            </p:cNvPr>
            <p:cNvSpPr txBox="1"/>
            <p:nvPr/>
          </p:nvSpPr>
          <p:spPr>
            <a:xfrm rot="16200000">
              <a:off x="-65264" y="2505193"/>
              <a:ext cx="795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NDCI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B11682A-13D0-58A5-9F20-1C8A876E2C07}"/>
                </a:ext>
              </a:extLst>
            </p:cNvPr>
            <p:cNvSpPr txBox="1"/>
            <p:nvPr/>
          </p:nvSpPr>
          <p:spPr>
            <a:xfrm>
              <a:off x="5698331" y="5060987"/>
              <a:ext cx="795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67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6FEF-864D-730A-D481-F6DEB69B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781BAF56-09DA-A9CF-EF2B-F42889A91C70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id="10" name="Picture 9" descr="A graph of training and validation loss&#10;&#10;AI-generated content may be incorrect.">
              <a:extLst>
                <a:ext uri="{FF2B5EF4-FFF2-40B4-BE49-F238E27FC236}">
                  <a16:creationId xmlns:a16="http://schemas.microsoft.com/office/drawing/2014/main" id="{75522279-4143-8790-58F8-009D0178A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001500" cy="685800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297C8CF-D780-6AE9-338C-0B2818927E3D}"/>
                </a:ext>
              </a:extLst>
            </p:cNvPr>
            <p:cNvSpPr/>
            <p:nvPr/>
          </p:nvSpPr>
          <p:spPr>
            <a:xfrm>
              <a:off x="1" y="6226175"/>
              <a:ext cx="12192000" cy="631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6AAF725-C9F5-6A53-50E5-993210061593}"/>
                </a:ext>
              </a:extLst>
            </p:cNvPr>
            <p:cNvSpPr/>
            <p:nvPr/>
          </p:nvSpPr>
          <p:spPr>
            <a:xfrm>
              <a:off x="24701" y="0"/>
              <a:ext cx="859155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3A34A9-EFE7-04FE-1CA4-49FFA5FABFB4}"/>
                </a:ext>
              </a:extLst>
            </p:cNvPr>
            <p:cNvSpPr txBox="1"/>
            <p:nvPr/>
          </p:nvSpPr>
          <p:spPr>
            <a:xfrm rot="16200000">
              <a:off x="-454437" y="3232175"/>
              <a:ext cx="1417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Loss (MSE)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C690CE-36D6-93FF-8435-84BEC96D8DFF}"/>
                </a:ext>
              </a:extLst>
            </p:cNvPr>
            <p:cNvSpPr txBox="1"/>
            <p:nvPr/>
          </p:nvSpPr>
          <p:spPr>
            <a:xfrm>
              <a:off x="422849" y="564229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CAC706-B91A-E088-55B3-A4BC1174F5B8}"/>
                </a:ext>
              </a:extLst>
            </p:cNvPr>
            <p:cNvSpPr txBox="1"/>
            <p:nvPr/>
          </p:nvSpPr>
          <p:spPr>
            <a:xfrm>
              <a:off x="422849" y="5008456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5A29EB-ADB4-D671-6905-43DCBBBEA818}"/>
                </a:ext>
              </a:extLst>
            </p:cNvPr>
            <p:cNvSpPr txBox="1"/>
            <p:nvPr/>
          </p:nvSpPr>
          <p:spPr>
            <a:xfrm>
              <a:off x="422849" y="4374618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F97081-5C1B-7092-82E9-3138693F3227}"/>
                </a:ext>
              </a:extLst>
            </p:cNvPr>
            <p:cNvSpPr txBox="1"/>
            <p:nvPr/>
          </p:nvSpPr>
          <p:spPr>
            <a:xfrm>
              <a:off x="422849" y="3740780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FA50F6-1AC8-3D0A-9ECA-F49B76EC561E}"/>
                </a:ext>
              </a:extLst>
            </p:cNvPr>
            <p:cNvSpPr txBox="1"/>
            <p:nvPr/>
          </p:nvSpPr>
          <p:spPr>
            <a:xfrm>
              <a:off x="422849" y="3106942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4E5494-33C3-2374-2571-1AE77AC1C430}"/>
                </a:ext>
              </a:extLst>
            </p:cNvPr>
            <p:cNvSpPr txBox="1"/>
            <p:nvPr/>
          </p:nvSpPr>
          <p:spPr>
            <a:xfrm>
              <a:off x="422849" y="247310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444EAD5-DEB9-7BBA-39FD-37AD87F95996}"/>
                </a:ext>
              </a:extLst>
            </p:cNvPr>
            <p:cNvSpPr txBox="1"/>
            <p:nvPr/>
          </p:nvSpPr>
          <p:spPr>
            <a:xfrm>
              <a:off x="422849" y="1839266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3A07E2-0E7D-F5B3-6AC3-C5EFFB16521E}"/>
                </a:ext>
              </a:extLst>
            </p:cNvPr>
            <p:cNvSpPr txBox="1"/>
            <p:nvPr/>
          </p:nvSpPr>
          <p:spPr>
            <a:xfrm>
              <a:off x="422849" y="1183433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E9F353-B286-DF28-7BDC-661F6A5FEAF6}"/>
                </a:ext>
              </a:extLst>
            </p:cNvPr>
            <p:cNvSpPr txBox="1"/>
            <p:nvPr/>
          </p:nvSpPr>
          <p:spPr>
            <a:xfrm>
              <a:off x="422849" y="554358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1.6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7C1D81-0FE6-4BE9-AD41-6CE4E4C6E30D}"/>
                </a:ext>
              </a:extLst>
            </p:cNvPr>
            <p:cNvSpPr txBox="1"/>
            <p:nvPr/>
          </p:nvSpPr>
          <p:spPr>
            <a:xfrm>
              <a:off x="1203899" y="611854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BAD492A-FB90-68B7-0FA0-445A71569D0A}"/>
                </a:ext>
              </a:extLst>
            </p:cNvPr>
            <p:cNvSpPr txBox="1"/>
            <p:nvPr/>
          </p:nvSpPr>
          <p:spPr>
            <a:xfrm>
              <a:off x="3204149" y="611854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0DBCBFB-4543-47BF-C0EF-D427F903B73B}"/>
                </a:ext>
              </a:extLst>
            </p:cNvPr>
            <p:cNvSpPr txBox="1"/>
            <p:nvPr/>
          </p:nvSpPr>
          <p:spPr>
            <a:xfrm>
              <a:off x="5204399" y="611854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6C8A32-CDAD-CABD-792A-32AF4C5DB559}"/>
                </a:ext>
              </a:extLst>
            </p:cNvPr>
            <p:cNvSpPr txBox="1"/>
            <p:nvPr/>
          </p:nvSpPr>
          <p:spPr>
            <a:xfrm>
              <a:off x="7204649" y="611854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6DB124-AC83-7357-9D96-F37E20340721}"/>
                </a:ext>
              </a:extLst>
            </p:cNvPr>
            <p:cNvSpPr txBox="1"/>
            <p:nvPr/>
          </p:nvSpPr>
          <p:spPr>
            <a:xfrm>
              <a:off x="9204899" y="6118544"/>
              <a:ext cx="560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451BB6-094A-D597-D3EF-D19092FA73B4}"/>
                </a:ext>
              </a:extLst>
            </p:cNvPr>
            <p:cNvSpPr txBox="1"/>
            <p:nvPr/>
          </p:nvSpPr>
          <p:spPr>
            <a:xfrm>
              <a:off x="11106532" y="6119717"/>
              <a:ext cx="7906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AC7AB77-2BC4-FB58-8EDB-3565951176D7}"/>
                </a:ext>
              </a:extLst>
            </p:cNvPr>
            <p:cNvSpPr/>
            <p:nvPr/>
          </p:nvSpPr>
          <p:spPr>
            <a:xfrm>
              <a:off x="982919" y="685800"/>
              <a:ext cx="10913806" cy="543274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B183173-5C5F-E3E3-DDC3-904E7858BD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747269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BAA19E4-AC3F-DBFF-4750-9CEC7DD33A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1390206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DC5A9B6-FAF5-85EB-08E5-EEF53B61A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2030763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15742D-27AF-845F-44A9-490DAD5E1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2673701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6008298-0E93-21F4-68C2-8E72A9DAAD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3314257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B98EFDE-D995-96B7-3B09-53FA18ACE2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3957194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3F275C6-B11C-1A09-7943-9B71838BB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4604894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9FDEE55-0774-3A96-B8FC-8E8526EB5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5238307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1A12867-A509-A659-A336-D1CCDE624A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856" y="5876482"/>
              <a:ext cx="990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97C7E2A-65B3-A30B-431B-658C54780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1549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F8B623C-E8F9-F5F5-EC9A-6C303E2BD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8943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910B10F-254D-9ACE-774D-0CFA3BC2F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1574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EB7B8B2-01A8-3812-9403-DD3419CCA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1349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FD84031-3747-488C-4150-E1FB0B6B9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3981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B69B9A3-E2C1-0677-15E4-DDF9F2CBC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01850" y="6106669"/>
              <a:ext cx="0" cy="1195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9630A81F-277B-ED53-E844-30D6F8604993}"/>
                </a:ext>
              </a:extLst>
            </p:cNvPr>
            <p:cNvSpPr/>
            <p:nvPr/>
          </p:nvSpPr>
          <p:spPr>
            <a:xfrm>
              <a:off x="9603579" y="740915"/>
              <a:ext cx="2193128" cy="71005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6A30257-AB1D-E81F-5C6B-13E2F58837EB}"/>
                </a:ext>
              </a:extLst>
            </p:cNvPr>
            <p:cNvSpPr txBox="1"/>
            <p:nvPr/>
          </p:nvSpPr>
          <p:spPr>
            <a:xfrm>
              <a:off x="10223282" y="755250"/>
              <a:ext cx="146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Training Loss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CCFFF02-B42C-DC30-61AB-32F0D0D0086F}"/>
                </a:ext>
              </a:extLst>
            </p:cNvPr>
            <p:cNvSpPr txBox="1"/>
            <p:nvPr/>
          </p:nvSpPr>
          <p:spPr>
            <a:xfrm>
              <a:off x="10223282" y="1095940"/>
              <a:ext cx="1545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Validation Loss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79ED691-CDDB-68DC-AABA-2494D030F11B}"/>
                </a:ext>
              </a:extLst>
            </p:cNvPr>
            <p:cNvCxnSpPr>
              <a:cxnSpLocks/>
            </p:cNvCxnSpPr>
            <p:nvPr/>
          </p:nvCxnSpPr>
          <p:spPr>
            <a:xfrm>
              <a:off x="9760400" y="1265217"/>
              <a:ext cx="462882" cy="0"/>
            </a:xfrm>
            <a:prstGeom prst="line">
              <a:avLst/>
            </a:prstGeom>
            <a:ln w="38100">
              <a:solidFill>
                <a:srgbClr val="E0935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28AAB38-6EA8-C12F-D4DE-A2A93726F47B}"/>
                </a:ext>
              </a:extLst>
            </p:cNvPr>
            <p:cNvCxnSpPr>
              <a:cxnSpLocks/>
            </p:cNvCxnSpPr>
            <p:nvPr/>
          </p:nvCxnSpPr>
          <p:spPr>
            <a:xfrm>
              <a:off x="9760400" y="924527"/>
              <a:ext cx="462882" cy="0"/>
            </a:xfrm>
            <a:prstGeom prst="line">
              <a:avLst/>
            </a:prstGeom>
            <a:ln w="38100">
              <a:solidFill>
                <a:srgbClr val="336B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F10D158-34A4-514D-1AC1-5718789D7488}"/>
                </a:ext>
              </a:extLst>
            </p:cNvPr>
            <p:cNvSpPr/>
            <p:nvPr/>
          </p:nvSpPr>
          <p:spPr>
            <a:xfrm>
              <a:off x="2431600" y="10999"/>
              <a:ext cx="7688580" cy="6452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3CD3E8C-E367-673B-5FE5-E00EADC2DEE8}"/>
                </a:ext>
              </a:extLst>
            </p:cNvPr>
            <p:cNvSpPr txBox="1"/>
            <p:nvPr/>
          </p:nvSpPr>
          <p:spPr>
            <a:xfrm>
              <a:off x="2002534" y="158414"/>
              <a:ext cx="7996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ConvLSTM Model Training &amp; Validation Loss (100 Epochs)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BAF050C-0C59-FCA4-0744-9AE6D154877B}"/>
                </a:ext>
              </a:extLst>
            </p:cNvPr>
            <p:cNvSpPr txBox="1"/>
            <p:nvPr/>
          </p:nvSpPr>
          <p:spPr>
            <a:xfrm>
              <a:off x="5286534" y="6332633"/>
              <a:ext cx="1417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Epoch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934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72DC36C-1AD3-FFE0-D2A8-76529D56700F}"/>
              </a:ext>
            </a:extLst>
          </p:cNvPr>
          <p:cNvGrpSpPr/>
          <p:nvPr/>
        </p:nvGrpSpPr>
        <p:grpSpPr>
          <a:xfrm>
            <a:off x="1483020" y="-91003"/>
            <a:ext cx="8721429" cy="6949003"/>
            <a:chOff x="1483020" y="-91003"/>
            <a:chExt cx="8721429" cy="6949003"/>
          </a:xfrm>
        </p:grpSpPr>
        <p:pic>
          <p:nvPicPr>
            <p:cNvPr id="5" name="Picture 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41418ADA-8C17-B2A0-C174-0DE0AA1CA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4850" y="0"/>
              <a:ext cx="8229599" cy="685800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32D342-063F-3974-438C-A92228951875}"/>
                </a:ext>
              </a:extLst>
            </p:cNvPr>
            <p:cNvSpPr>
              <a:spLocks/>
            </p:cNvSpPr>
            <p:nvPr/>
          </p:nvSpPr>
          <p:spPr>
            <a:xfrm>
              <a:off x="1691638" y="0"/>
              <a:ext cx="1606316" cy="6841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8F4B36-C189-32A8-C763-56CC8FD17D70}"/>
                </a:ext>
              </a:extLst>
            </p:cNvPr>
            <p:cNvSpPr>
              <a:spLocks/>
            </p:cNvSpPr>
            <p:nvPr/>
          </p:nvSpPr>
          <p:spPr>
            <a:xfrm>
              <a:off x="9343390" y="0"/>
              <a:ext cx="416478" cy="6841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6C97F46-8295-1769-BFA6-51CCD4DC1125}"/>
                </a:ext>
              </a:extLst>
            </p:cNvPr>
            <p:cNvSpPr>
              <a:spLocks/>
            </p:cNvSpPr>
            <p:nvPr/>
          </p:nvSpPr>
          <p:spPr>
            <a:xfrm rot="16200000">
              <a:off x="5608200" y="3357603"/>
              <a:ext cx="1161017" cy="5806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F78524-5A42-B896-F6FE-93EF61C8B99A}"/>
                </a:ext>
              </a:extLst>
            </p:cNvPr>
            <p:cNvSpPr>
              <a:spLocks/>
            </p:cNvSpPr>
            <p:nvPr/>
          </p:nvSpPr>
          <p:spPr>
            <a:xfrm>
              <a:off x="1693325" y="152400"/>
              <a:ext cx="1592165" cy="5806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12EB93-EABE-4B44-E058-8D8FF4D8F085}"/>
                </a:ext>
              </a:extLst>
            </p:cNvPr>
            <p:cNvSpPr txBox="1"/>
            <p:nvPr/>
          </p:nvSpPr>
          <p:spPr>
            <a:xfrm>
              <a:off x="2751115" y="344686"/>
              <a:ext cx="6604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NDCI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45F6BB-D9A2-EE24-F42A-B657EE700D35}"/>
                </a:ext>
              </a:extLst>
            </p:cNvPr>
            <p:cNvSpPr txBox="1"/>
            <p:nvPr/>
          </p:nvSpPr>
          <p:spPr>
            <a:xfrm>
              <a:off x="2935265" y="1023779"/>
              <a:ext cx="47625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FAI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7E89D4-15CD-1AEE-ECD1-7A523105FF27}"/>
                </a:ext>
              </a:extLst>
            </p:cNvPr>
            <p:cNvSpPr txBox="1">
              <a:spLocks/>
            </p:cNvSpPr>
            <p:nvPr/>
          </p:nvSpPr>
          <p:spPr>
            <a:xfrm>
              <a:off x="1483020" y="1702872"/>
              <a:ext cx="19284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Discharge (cfs)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D6A0C0-5CA1-4196-2803-BA800DEA79BA}"/>
                </a:ext>
              </a:extLst>
            </p:cNvPr>
            <p:cNvSpPr txBox="1"/>
            <p:nvPr/>
          </p:nvSpPr>
          <p:spPr>
            <a:xfrm>
              <a:off x="1483020" y="2381965"/>
              <a:ext cx="19284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Discharge (cfs)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C98A1F-7F38-F71E-292E-1803155E1FBB}"/>
                </a:ext>
              </a:extLst>
            </p:cNvPr>
            <p:cNvSpPr txBox="1"/>
            <p:nvPr/>
          </p:nvSpPr>
          <p:spPr>
            <a:xfrm>
              <a:off x="1948475" y="3016211"/>
              <a:ext cx="14630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Lag 7-day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0917A0-C3CD-1C6F-6FDC-9F1481B0A26B}"/>
                </a:ext>
              </a:extLst>
            </p:cNvPr>
            <p:cNvSpPr txBox="1"/>
            <p:nvPr/>
          </p:nvSpPr>
          <p:spPr>
            <a:xfrm>
              <a:off x="1948475" y="3702011"/>
              <a:ext cx="14630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Lag 7-day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55E669-6D25-5F97-DF8C-DEF49F61D302}"/>
                </a:ext>
              </a:extLst>
            </p:cNvPr>
            <p:cNvSpPr txBox="1"/>
            <p:nvPr/>
          </p:nvSpPr>
          <p:spPr>
            <a:xfrm>
              <a:off x="1829730" y="4360268"/>
              <a:ext cx="158178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Lag 14-day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507389-E441-2D9A-7DEA-1685854B07C1}"/>
                </a:ext>
              </a:extLst>
            </p:cNvPr>
            <p:cNvSpPr txBox="1"/>
            <p:nvPr/>
          </p:nvSpPr>
          <p:spPr>
            <a:xfrm>
              <a:off x="1829730" y="5046068"/>
              <a:ext cx="158178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Lag 14-day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A7C47E-E805-DDBE-53C3-8E7B82ABA1BA}"/>
                </a:ext>
              </a:extLst>
            </p:cNvPr>
            <p:cNvSpPr txBox="1"/>
            <p:nvPr/>
          </p:nvSpPr>
          <p:spPr>
            <a:xfrm rot="18900000">
              <a:off x="3207255" y="5704911"/>
              <a:ext cx="6604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NDCI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0A5D40-9FC6-409C-CC78-DB436E3A3B82}"/>
                </a:ext>
              </a:extLst>
            </p:cNvPr>
            <p:cNvSpPr txBox="1"/>
            <p:nvPr/>
          </p:nvSpPr>
          <p:spPr>
            <a:xfrm rot="18900000">
              <a:off x="4023314" y="5639803"/>
              <a:ext cx="47625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FAI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102D92-AB7B-162F-4C5B-82934021C892}"/>
                </a:ext>
              </a:extLst>
            </p:cNvPr>
            <p:cNvSpPr txBox="1"/>
            <p:nvPr/>
          </p:nvSpPr>
          <p:spPr>
            <a:xfrm rot="18900000">
              <a:off x="3592627" y="6058038"/>
              <a:ext cx="19284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Discharge (cfs)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72BD1E-52CA-D910-2EBE-71ABFAA2DC4D}"/>
                </a:ext>
              </a:extLst>
            </p:cNvPr>
            <p:cNvSpPr txBox="1"/>
            <p:nvPr/>
          </p:nvSpPr>
          <p:spPr>
            <a:xfrm rot="18900000">
              <a:off x="4264303" y="6058037"/>
              <a:ext cx="19284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Discharge (cfs)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9A1546-7C70-7B48-0609-3A15DBC190DC}"/>
                </a:ext>
              </a:extLst>
            </p:cNvPr>
            <p:cNvSpPr txBox="1"/>
            <p:nvPr/>
          </p:nvSpPr>
          <p:spPr>
            <a:xfrm rot="18900000">
              <a:off x="5293113" y="5922439"/>
              <a:ext cx="14630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Lag 7-day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5137FF-7AD9-85E7-AF2B-84E11A4EE733}"/>
                </a:ext>
              </a:extLst>
            </p:cNvPr>
            <p:cNvSpPr txBox="1"/>
            <p:nvPr/>
          </p:nvSpPr>
          <p:spPr>
            <a:xfrm rot="18900000">
              <a:off x="5972232" y="5922439"/>
              <a:ext cx="14630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Lag 7-day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8ADCEC-8321-362B-4506-883630DF350D}"/>
                </a:ext>
              </a:extLst>
            </p:cNvPr>
            <p:cNvSpPr txBox="1"/>
            <p:nvPr/>
          </p:nvSpPr>
          <p:spPr>
            <a:xfrm rot="18900000">
              <a:off x="6576317" y="5964420"/>
              <a:ext cx="158178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S77 Lag 14-day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4D3860-8BBE-3436-F208-4FE5CA98ED2C}"/>
                </a:ext>
              </a:extLst>
            </p:cNvPr>
            <p:cNvSpPr txBox="1"/>
            <p:nvPr/>
          </p:nvSpPr>
          <p:spPr>
            <a:xfrm rot="18900000">
              <a:off x="7244256" y="5965936"/>
              <a:ext cx="158178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S79 Lag 14-day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593AAD-F838-5C0F-FF7A-16F51A183677}"/>
                </a:ext>
              </a:extLst>
            </p:cNvPr>
            <p:cNvSpPr txBox="1"/>
            <p:nvPr/>
          </p:nvSpPr>
          <p:spPr>
            <a:xfrm>
              <a:off x="9258064" y="582126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DB69CD3-8B10-BA22-4080-E964045AFF08}"/>
                </a:ext>
              </a:extLst>
            </p:cNvPr>
            <p:cNvSpPr txBox="1"/>
            <p:nvPr/>
          </p:nvSpPr>
          <p:spPr>
            <a:xfrm>
              <a:off x="9258064" y="1395095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C958A4-0D85-2FCF-527A-01856A440C43}"/>
                </a:ext>
              </a:extLst>
            </p:cNvPr>
            <p:cNvSpPr txBox="1"/>
            <p:nvPr/>
          </p:nvSpPr>
          <p:spPr>
            <a:xfrm>
              <a:off x="9258064" y="2172801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0.6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BB3D66D-11E3-D4F0-1D77-983AF412F33F}"/>
                </a:ext>
              </a:extLst>
            </p:cNvPr>
            <p:cNvSpPr txBox="1"/>
            <p:nvPr/>
          </p:nvSpPr>
          <p:spPr>
            <a:xfrm>
              <a:off x="9258064" y="2985254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63D7AC-6186-5EA2-1B10-9D024B7288B3}"/>
                </a:ext>
              </a:extLst>
            </p:cNvPr>
            <p:cNvSpPr txBox="1"/>
            <p:nvPr/>
          </p:nvSpPr>
          <p:spPr>
            <a:xfrm>
              <a:off x="9258064" y="3780591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E76984-4DB5-A8FB-3E39-8D4C5A2A6F94}"/>
                </a:ext>
              </a:extLst>
            </p:cNvPr>
            <p:cNvSpPr txBox="1"/>
            <p:nvPr/>
          </p:nvSpPr>
          <p:spPr>
            <a:xfrm>
              <a:off x="9258064" y="4575928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5BC7C80-92A4-1FEF-F865-883BC5B3AC58}"/>
                </a:ext>
              </a:extLst>
            </p:cNvPr>
            <p:cNvSpPr txBox="1"/>
            <p:nvPr/>
          </p:nvSpPr>
          <p:spPr>
            <a:xfrm rot="16200000">
              <a:off x="9136594" y="2823671"/>
              <a:ext cx="112864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Correlation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D999F3-E758-E965-483F-F3C605E06723}"/>
                </a:ext>
              </a:extLst>
            </p:cNvPr>
            <p:cNvSpPr/>
            <p:nvPr/>
          </p:nvSpPr>
          <p:spPr>
            <a:xfrm>
              <a:off x="2751115" y="0"/>
              <a:ext cx="6788219" cy="1873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2261BB-8232-26E2-0D10-E278C1C21284}"/>
                </a:ext>
              </a:extLst>
            </p:cNvPr>
            <p:cNvSpPr txBox="1"/>
            <p:nvPr/>
          </p:nvSpPr>
          <p:spPr>
            <a:xfrm>
              <a:off x="3665069" y="-91003"/>
              <a:ext cx="4861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Correlation Heatmap: Indices, Discharge, and Lags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602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C6E311E-5BB0-02B0-350E-C05BC3305B56}"/>
              </a:ext>
            </a:extLst>
          </p:cNvPr>
          <p:cNvGrpSpPr/>
          <p:nvPr/>
        </p:nvGrpSpPr>
        <p:grpSpPr>
          <a:xfrm>
            <a:off x="1809750" y="0"/>
            <a:ext cx="8572499" cy="6858000"/>
            <a:chOff x="1809750" y="0"/>
            <a:chExt cx="8572499" cy="6858000"/>
          </a:xfrm>
        </p:grpSpPr>
        <p:pic>
          <p:nvPicPr>
            <p:cNvPr id="9" name="Picture 8" descr="A graph with a line&#10;&#10;AI-generated content may be incorrect.">
              <a:extLst>
                <a:ext uri="{FF2B5EF4-FFF2-40B4-BE49-F238E27FC236}">
                  <a16:creationId xmlns:a16="http://schemas.microsoft.com/office/drawing/2014/main" id="{6AAE2B87-31DD-3C07-AB5D-58D4833E0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9750" y="0"/>
              <a:ext cx="8572499" cy="6858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AD18D2A-7FDC-04B4-DD0D-EC3636AF9081}"/>
                </a:ext>
              </a:extLst>
            </p:cNvPr>
            <p:cNvSpPr/>
            <p:nvPr/>
          </p:nvSpPr>
          <p:spPr>
            <a:xfrm rot="5400000">
              <a:off x="5983499" y="2906453"/>
              <a:ext cx="488007" cy="70493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3DE62F-6F92-43BB-07F0-15C1CE38DCB0}"/>
                </a:ext>
              </a:extLst>
            </p:cNvPr>
            <p:cNvSpPr/>
            <p:nvPr/>
          </p:nvSpPr>
          <p:spPr>
            <a:xfrm>
              <a:off x="1902097" y="0"/>
              <a:ext cx="937260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5651BA-DA7D-8F4E-AD49-37C148159022}"/>
                </a:ext>
              </a:extLst>
            </p:cNvPr>
            <p:cNvSpPr txBox="1"/>
            <p:nvPr/>
          </p:nvSpPr>
          <p:spPr>
            <a:xfrm>
              <a:off x="2491504" y="920740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93E4BA-78FF-DF56-74B7-63D2E8F0DFA3}"/>
                </a:ext>
              </a:extLst>
            </p:cNvPr>
            <p:cNvSpPr txBox="1"/>
            <p:nvPr/>
          </p:nvSpPr>
          <p:spPr>
            <a:xfrm>
              <a:off x="2491504" y="1931760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0.8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5A5F77-0CAA-E3DF-C3EB-14BB53232B2F}"/>
                </a:ext>
              </a:extLst>
            </p:cNvPr>
            <p:cNvSpPr txBox="1"/>
            <p:nvPr/>
          </p:nvSpPr>
          <p:spPr>
            <a:xfrm>
              <a:off x="2491504" y="2938106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1A8E2A-820D-6902-6D19-63F727500DD5}"/>
                </a:ext>
              </a:extLst>
            </p:cNvPr>
            <p:cNvSpPr txBox="1"/>
            <p:nvPr/>
          </p:nvSpPr>
          <p:spPr>
            <a:xfrm>
              <a:off x="2491504" y="3944452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AD2CB-FFE6-C6A4-76B5-E21A49A508B9}"/>
                </a:ext>
              </a:extLst>
            </p:cNvPr>
            <p:cNvSpPr txBox="1"/>
            <p:nvPr/>
          </p:nvSpPr>
          <p:spPr>
            <a:xfrm>
              <a:off x="2491504" y="4950798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E72D1-2B1B-2760-1016-9CDE161D7455}"/>
                </a:ext>
              </a:extLst>
            </p:cNvPr>
            <p:cNvSpPr txBox="1"/>
            <p:nvPr/>
          </p:nvSpPr>
          <p:spPr>
            <a:xfrm>
              <a:off x="2491504" y="5957144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24431D-ED35-1BA8-3F5C-FDDFFA0E8E8C}"/>
                </a:ext>
              </a:extLst>
            </p:cNvPr>
            <p:cNvSpPr txBox="1"/>
            <p:nvPr/>
          </p:nvSpPr>
          <p:spPr>
            <a:xfrm>
              <a:off x="2670574" y="6099795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94AE07-94A3-D65E-0D62-84E491E917E9}"/>
                </a:ext>
              </a:extLst>
            </p:cNvPr>
            <p:cNvSpPr txBox="1"/>
            <p:nvPr/>
          </p:nvSpPr>
          <p:spPr>
            <a:xfrm>
              <a:off x="4003597" y="6099794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4D44C2-538F-4BDF-20E3-A16BEDF0454F}"/>
                </a:ext>
              </a:extLst>
            </p:cNvPr>
            <p:cNvSpPr txBox="1"/>
            <p:nvPr/>
          </p:nvSpPr>
          <p:spPr>
            <a:xfrm>
              <a:off x="5336620" y="6099793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97D84FE-11B5-B6BF-2069-15CFB87F271A}"/>
                </a:ext>
              </a:extLst>
            </p:cNvPr>
            <p:cNvSpPr txBox="1"/>
            <p:nvPr/>
          </p:nvSpPr>
          <p:spPr>
            <a:xfrm>
              <a:off x="6669643" y="6099792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BB5FFF-D511-305D-EED6-4DD63227FEA1}"/>
                </a:ext>
              </a:extLst>
            </p:cNvPr>
            <p:cNvSpPr txBox="1"/>
            <p:nvPr/>
          </p:nvSpPr>
          <p:spPr>
            <a:xfrm>
              <a:off x="8002666" y="6099791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68EE68-85EF-B5A2-412D-5AEEF434CDB0}"/>
                </a:ext>
              </a:extLst>
            </p:cNvPr>
            <p:cNvSpPr txBox="1"/>
            <p:nvPr/>
          </p:nvSpPr>
          <p:spPr>
            <a:xfrm>
              <a:off x="9335689" y="6099790"/>
              <a:ext cx="416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1888D3-A9D8-487A-3C47-63710C8672D3}"/>
                </a:ext>
              </a:extLst>
            </p:cNvPr>
            <p:cNvSpPr txBox="1"/>
            <p:nvPr/>
          </p:nvSpPr>
          <p:spPr>
            <a:xfrm rot="16200000">
              <a:off x="1486399" y="3275111"/>
              <a:ext cx="19598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True Positive Rate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4C0314-6ED7-4BC7-8B54-5F037097CF8A}"/>
                </a:ext>
              </a:extLst>
            </p:cNvPr>
            <p:cNvSpPr txBox="1"/>
            <p:nvPr/>
          </p:nvSpPr>
          <p:spPr>
            <a:xfrm>
              <a:off x="5116076" y="6253678"/>
              <a:ext cx="19598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False Positive Rate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CD7E87-979B-DF44-07FE-99329E3115E4}"/>
                </a:ext>
              </a:extLst>
            </p:cNvPr>
            <p:cNvSpPr/>
            <p:nvPr/>
          </p:nvSpPr>
          <p:spPr>
            <a:xfrm rot="5400000">
              <a:off x="6437827" y="-3035577"/>
              <a:ext cx="283811" cy="7401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DB367A-E9C7-C83D-6F2C-726AB707DF15}"/>
                </a:ext>
              </a:extLst>
            </p:cNvPr>
            <p:cNvSpPr txBox="1"/>
            <p:nvPr/>
          </p:nvSpPr>
          <p:spPr>
            <a:xfrm>
              <a:off x="4451824" y="511454"/>
              <a:ext cx="3279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ROC Curve for NDCI Bloom Prediction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1021689-A238-408A-9BA1-56321BFE5126}"/>
                </a:ext>
              </a:extLst>
            </p:cNvPr>
            <p:cNvGrpSpPr/>
            <p:nvPr/>
          </p:nvGrpSpPr>
          <p:grpSpPr>
            <a:xfrm>
              <a:off x="7224989" y="5413375"/>
              <a:ext cx="2318939" cy="661175"/>
              <a:chOff x="7175500" y="4806950"/>
              <a:chExt cx="2318939" cy="661175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661D4E9B-16B7-F078-9429-7EA8E32D3EBC}"/>
                  </a:ext>
                </a:extLst>
              </p:cNvPr>
              <p:cNvSpPr/>
              <p:nvPr/>
            </p:nvSpPr>
            <p:spPr>
              <a:xfrm>
                <a:off x="7175500" y="4806950"/>
                <a:ext cx="2272344" cy="661175"/>
              </a:xfrm>
              <a:prstGeom prst="round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F7C239-3E4A-8D68-41BE-C442AF9030EC}"/>
                  </a:ext>
                </a:extLst>
              </p:cNvPr>
              <p:cNvSpPr txBox="1"/>
              <p:nvPr/>
            </p:nvSpPr>
            <p:spPr>
              <a:xfrm>
                <a:off x="7569199" y="4845149"/>
                <a:ext cx="18490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ROC Curve (area = 0.80)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0A6B5D-65F2-2CC3-960B-96E1194ED457}"/>
                  </a:ext>
                </a:extLst>
              </p:cNvPr>
              <p:cNvSpPr txBox="1"/>
              <p:nvPr/>
            </p:nvSpPr>
            <p:spPr>
              <a:xfrm>
                <a:off x="7569199" y="5073323"/>
                <a:ext cx="192524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 Skill (Random Chance)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666CA5D-5C3C-91F9-FE4C-0951F6471F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2975" y="4992073"/>
                <a:ext cx="276224" cy="0"/>
              </a:xfrm>
              <a:prstGeom prst="line">
                <a:avLst/>
              </a:prstGeom>
              <a:ln w="28575">
                <a:solidFill>
                  <a:srgbClr val="FF88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406FE23-9651-CF39-7E6B-C1CF4B6298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21550" y="5219517"/>
                <a:ext cx="104975" cy="0"/>
              </a:xfrm>
              <a:prstGeom prst="line">
                <a:avLst/>
              </a:prstGeom>
              <a:ln w="28575">
                <a:solidFill>
                  <a:srgbClr val="18188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B2A8CE9-35FC-92D1-5751-F23B445A8C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70775" y="5219517"/>
                <a:ext cx="98424" cy="0"/>
              </a:xfrm>
              <a:prstGeom prst="line">
                <a:avLst/>
              </a:prstGeom>
              <a:ln w="28575">
                <a:solidFill>
                  <a:srgbClr val="18188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0970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30A0F9BB-19B2-2B2F-9E78-B77AF091F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2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0C0217A-8B41-1C73-D671-2CFC4C843687}"/>
              </a:ext>
            </a:extLst>
          </p:cNvPr>
          <p:cNvGrpSpPr/>
          <p:nvPr/>
        </p:nvGrpSpPr>
        <p:grpSpPr>
          <a:xfrm>
            <a:off x="2571115" y="0"/>
            <a:ext cx="7589520" cy="6858000"/>
            <a:chOff x="1834515" y="0"/>
            <a:chExt cx="7589520" cy="685800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90E44B5-78ED-8734-6844-F752D45582F4}"/>
                </a:ext>
              </a:extLst>
            </p:cNvPr>
            <p:cNvSpPr>
              <a:spLocks/>
            </p:cNvSpPr>
            <p:nvPr/>
          </p:nvSpPr>
          <p:spPr>
            <a:xfrm>
              <a:off x="4911090" y="6065520"/>
              <a:ext cx="1508760" cy="79248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Results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E8F1B9B-142D-7F5F-E7DA-30D945B002D5}"/>
                </a:ext>
              </a:extLst>
            </p:cNvPr>
            <p:cNvGrpSpPr/>
            <p:nvPr/>
          </p:nvGrpSpPr>
          <p:grpSpPr>
            <a:xfrm>
              <a:off x="1834515" y="0"/>
              <a:ext cx="7589520" cy="6400800"/>
              <a:chOff x="1834515" y="0"/>
              <a:chExt cx="7589520" cy="6400800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A522092-D664-E58E-7A59-B20634723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025" y="712469"/>
                <a:ext cx="0" cy="297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6D3C3B0-4D70-67F8-79C7-C6A6708B8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815" y="712469"/>
                <a:ext cx="0" cy="297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682497D-ADFE-F413-9FA6-3B08F734E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3090" y="2731767"/>
                <a:ext cx="0" cy="297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4CF7847C-9A45-B643-52A4-0749FA79CE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3090" y="3741416"/>
                <a:ext cx="0" cy="297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E98E1B8-0B63-94C6-E67A-847A1FB9C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4260" y="4831076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095D060-2CC4-964B-9917-ABE050C19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6195" y="4831076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3EF0122-74D9-05C6-C6FB-086025AC0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3275" y="5383537"/>
                <a:ext cx="51816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CCD7118-0035-3BE1-88CD-5974CAE1F9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7115" y="5383537"/>
                <a:ext cx="51816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359E4FC5-4A60-862C-CBE6-7974E2D3B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120" y="1405889"/>
                <a:ext cx="4286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1540AE68-E822-C898-52D1-A7DF66D6FD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9125" y="4434836"/>
                <a:ext cx="540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305CFA35-B2B3-83C6-015F-1481E2580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0780" y="4434836"/>
                <a:ext cx="6610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72B4C110-767F-E8AD-96E4-CC5DEBE21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4356" y="180212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CCCC9F0-8EA1-3258-C412-CE7816F55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5805" y="584071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735A7A0-586A-D902-3CA5-0BE535E443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5120" y="584071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8AC0285D-B62C-4AAC-1694-81D0156F2B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9655" y="584833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8EC5579F-5815-3E56-C702-AF4F1B01D4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8885" y="584833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C9B526E-324E-8986-328F-EFAC07016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4831" y="2354590"/>
                <a:ext cx="54625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91E770B9-01EF-078C-2844-9D5CF77BB2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19850" y="2354590"/>
                <a:ext cx="53101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C0F5BB56-7942-20E0-9472-A4E7E89AE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8885" y="6393180"/>
                <a:ext cx="24022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4A12AF5-94E5-E889-3644-BA4C7A4AC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19850" y="6393180"/>
                <a:ext cx="2249805" cy="76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F5B64DE-1C2D-9FEF-CF60-6069DA3BD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13145" y="0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Water quality data collected from DBHYDRO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40C5075-9E25-88A2-C857-8DE97E4760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745" y="0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Sentinel-2 data filtered in Google Earth Engine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67B6FB6-020A-87A4-CB26-28833DA46C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13145" y="100964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 cleaning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741B745-7F98-BC98-5119-36148CE363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11090" y="2019298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Pairing of </a:t>
                </a:r>
                <a:r>
                  <a:rPr lang="en-US" sz="13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situ</a:t>
                </a:r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satellite data</a:t>
                </a: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6BC919AF-18C9-F3BA-7416-CDC4E8EB2E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745" y="100964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NDCI and FAI calculations and extractions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27EE6FB3-A579-1876-AD7C-0029FCAB7E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34515" y="100964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5,000 Points Randomly Generated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D1FA2C7-DC9D-A51B-1711-5F5A9E824E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11090" y="3028947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Thresholding values calculated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038C0307-A5D5-2730-D5A1-C531F12BF7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01815" y="4038596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Advanced modeling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A68B155-3E2D-C5C7-44F5-7B5E845D4B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11090" y="4038596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Bloom classification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82BF7FF7-0438-9DBE-097C-BB77A885E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20365" y="4038596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Baseline modeling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5228BB7-5515-2817-F170-6D37BE4FAD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88355" y="5048245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LSTM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74C9B10B-C45B-779F-DBF9-AF63C32DFB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15275" y="504823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ConvLSTM</a:t>
                </a: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5F46294D-3EB9-02CA-99A4-78B6DF3D06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34515" y="504823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Random Forest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58E1FAF3-02EB-7AB7-646E-48599D6339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61435" y="5048239"/>
                <a:ext cx="1508760" cy="7924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XGBoost</a:t>
                </a:r>
                <a:endParaRPr lang="en-US" sz="13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5A7E4C3-A7F0-E034-16AC-9091B9FD7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2929" y="1802129"/>
                <a:ext cx="0" cy="55246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8924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282</Words>
  <Application>Microsoft Office PowerPoint</Application>
  <PresentationFormat>Widescreen</PresentationFormat>
  <Paragraphs>152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Hewitt</dc:creator>
  <cp:lastModifiedBy>Nathan Hewitt</cp:lastModifiedBy>
  <cp:revision>7</cp:revision>
  <dcterms:created xsi:type="dcterms:W3CDTF">2025-12-08T20:02:43Z</dcterms:created>
  <dcterms:modified xsi:type="dcterms:W3CDTF">2025-12-09T19:34:40Z</dcterms:modified>
</cp:coreProperties>
</file>